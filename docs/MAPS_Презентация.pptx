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0"/>
            <a:ext cx="5943600" cy="45720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299DFF"/>
                </a:solidFill>
              </a:rPr>
              <a:t>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B0C4DE"/>
                </a:solidFill>
              </a:rPr>
              <a:t>Material Allocation &amp; Planning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Система управления материальным обеспечением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14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C4DE"/>
                </a:solidFill>
              </a:rPr>
              <a:t>Как перестать планировать вслепую
и получить точную картину за секунды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2179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5A7A9A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01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«Какие работы из нашего плана
обеспечены материалами —
а какие нет,
и на сколько именно не хватает?»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5029200"/>
            <a:ext cx="4873752" cy="45720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212080"/>
            <a:ext cx="103601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B0C4DE"/>
                </a:solidFill>
              </a:rPr>
              <a:t>Прямо сейчас — кто может ответить на этот вопрос?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Масштаб, при котором ручное управление не работает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383280" cy="347472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3383280" cy="73152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299DFF"/>
                </a:solidFill>
              </a:rPr>
              <a:t>30+ млрд 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C4DE"/>
                </a:solidFill>
              </a:rPr>
              <a:t>ежегодный объём
строительно-монтажных
и ремонтных работ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383280" cy="347472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0" y="1097280"/>
            <a:ext cx="3383280" cy="73152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0" y="13716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299DFF"/>
                </a:solidFill>
              </a:rPr>
              <a:t>10 000+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6517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C4DE"/>
                </a:solidFill>
              </a:rPr>
              <a:t>позиций работ
в годовой заявке
по всей компании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3383280" cy="347472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097280"/>
            <a:ext cx="3383280" cy="73152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137160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299DFF"/>
                </a:solidFill>
              </a:rPr>
              <a:t>10+ филиалов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6517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C4DE"/>
                </a:solidFill>
              </a:rPr>
              <a:t>каждый — несколько ЛПУ
и множество складов
с разными остатками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11274552" cy="4572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50292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8C00"/>
                </a:solidFill>
              </a:rPr>
              <a:t>При таком масштабе каждый процент неэффективности = сотни миллионов тенге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Что происходит сегодня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474720" cy="50292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47472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8C00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Нет единой картины обеспечённости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Планировщики вручную сверяют таблицы остатков
с потребностями по каждому филиалу.
Это занимает дни. Данные устаревают быстрее,
чем успевают быть обработаны.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005840"/>
            <a:ext cx="3474720" cy="50292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47472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143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8C00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1783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Двойное распределение материала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6517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Один и тот же материал «запланирован» сразу
на несколько работ. Одна получает материал,
другая — нет. Обе в плане считались обеспеченными.
Итог: срыв срока, аварийная закупка, претензии.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005840"/>
            <a:ext cx="3474720" cy="50292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005840"/>
            <a:ext cx="347472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1430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8C00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783080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Аварийные работы ломают весь план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51760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Появляется новая аварийная работа —
и плановая картина мгновенно устаревает.
Пересчитать вручную — снова дни.
Всё это время работают с неактуальными данными.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Где теряются деньги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242316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73152" cy="242316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972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C00"/>
                </a:solidFill>
              </a:rPr>
              <a:t>04  Закупают не то и не столько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C4DE"/>
                </a:solidFill>
              </a:rPr>
              <a:t>· Закупают то, что уже есть на складе соседнего филиала</a:t>
            </a:r>
          </a:p>
          <a:p>
            <a:pPr algn="l"/>
            <a:r>
              <a:rPr sz="1700" b="0">
                <a:solidFill>
                  <a:srgbClr val="B0C4DE"/>
                </a:solidFill>
              </a:rPr>
              <a:t>· Не учитывают законтрактованные поставки «в пути»</a:t>
            </a:r>
          </a:p>
          <a:p>
            <a:pPr algn="l"/>
            <a:r>
              <a:rPr sz="1700" b="0">
                <a:solidFill>
                  <a:srgbClr val="B0C4DE"/>
                </a:solidFill>
              </a:rPr>
              <a:t>· Не учитывают фактические списания по уже выполненным объёмам</a:t>
            </a:r>
          </a:p>
          <a:p>
            <a:pPr algn="l"/>
            <a:r>
              <a:rPr sz="1700" b="0">
                <a:solidFill>
                  <a:srgbClr val="B0C4DE"/>
                </a:solidFill>
              </a:rPr>
              <a:t>Результат: избыток в одних местах — острый дефицит в других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657600"/>
            <a:ext cx="11274552" cy="18288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3657600"/>
            <a:ext cx="73152" cy="18288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74903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8C00"/>
                </a:solidFill>
              </a:rPr>
              <a:t>05  Стоимость работ определяется постфактум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3434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0C4DE"/>
                </a:solidFill>
              </a:rPr>
              <a:t>Фактическая стоимость каждой работы становится известна после того,
как повлиять на ситуацию уже невозможно. Экономия или перерасход — сюрприз.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Всё, что описано выше —
не константа.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99DFF"/>
                </a:solidFill>
              </a:rPr>
              <a:t>Это задача автоматизации.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1">
                <a:solidFill>
                  <a:srgbClr val="2ECC71"/>
                </a:solidFill>
              </a:rPr>
              <a:t>Она решена.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MAPS — автоматическое распределение материалов в реальном времени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1005840"/>
          </a:xfrm>
          <a:prstGeom prst="rect">
            <a:avLst/>
          </a:prstGeom>
          <a:solidFill>
            <a:srgbClr val="16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Система принимает данные из SAP и Excel — и за секунды выдаёт полную картину
обеспечённости всех работ по всем филиалам.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3383280" cy="347472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286000"/>
            <a:ext cx="338328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2ECC71"/>
                </a:solidFill>
              </a:rPr>
              <a:t>Руководитель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632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C4DE"/>
                </a:solidFill>
              </a:rPr>
              <a:t>Картина обеспечённости
в деньгах и %
по каждой работе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286000"/>
            <a:ext cx="3383280" cy="347472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2286000"/>
            <a:ext cx="338328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24231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2ECC71"/>
                </a:solidFill>
              </a:rPr>
              <a:t>Снабженец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30632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C4DE"/>
                </a:solidFill>
              </a:rPr>
              <a:t>Точная заявка
на закупку
без двойного счёта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286000"/>
            <a:ext cx="3383280" cy="347472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38160" y="2286000"/>
            <a:ext cx="338328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242316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2ECC71"/>
                </a:solidFill>
              </a:rPr>
              <a:t>Производственник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3063240"/>
            <a:ext cx="3383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B0C4DE"/>
                </a:solidFill>
              </a:rPr>
              <a:t>Ответ на вопрос
«мои работы обеспечены?»
одним кликом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Пятислойный алгоритм — учитывает все источники покрытия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1274552" cy="89611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02920" cy="8961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502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E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051560"/>
            <a:ext cx="4114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Фактические списания SAP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051560"/>
            <a:ext cx="6035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Уже проведено документально — учитывается первым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47672"/>
            <a:ext cx="11274552" cy="89611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947672"/>
            <a:ext cx="502920" cy="8961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947672"/>
            <a:ext cx="502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E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993392"/>
            <a:ext cx="4114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Выдано, но не списано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993392"/>
            <a:ext cx="6035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Физически на объекте, документ ещё не оформлен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889504"/>
            <a:ext cx="11274552" cy="89611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889504"/>
            <a:ext cx="502920" cy="896112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2889504"/>
            <a:ext cx="502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E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935224"/>
            <a:ext cx="4114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Складские остатки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935224"/>
            <a:ext cx="6035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Свой завод → свой филиал → другие филиалы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31336"/>
            <a:ext cx="11274552" cy="89611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831336"/>
            <a:ext cx="502920" cy="896112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31336"/>
            <a:ext cx="502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E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877056"/>
            <a:ext cx="4114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Законтрактованные поставки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3877056"/>
            <a:ext cx="6035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Подтверждённые договоры — материалы «в пути»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773168"/>
            <a:ext cx="11274552" cy="89611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773168"/>
            <a:ext cx="502920" cy="89611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773168"/>
            <a:ext cx="50292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D1B2E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818888"/>
            <a:ext cx="41148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ДЕФИЦИТ — точная цифра к закупу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4818888"/>
            <a:ext cx="60350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Остаток, который реально нужно купить — без двойного счёта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94360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1">
                <a:solidFill>
                  <a:srgbClr val="299DFF"/>
                </a:solidFill>
              </a:rPr>
              <a:t>Материал назначается ровно один раз. Дублирования нет.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Умная очередь: кто получает материал первым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11274552" cy="123444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640080" cy="12344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640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1B2E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0700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Аварийные работы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69164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Всегда получают материалы первыми — независимо от дат и других условий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14600"/>
            <a:ext cx="11274552" cy="123444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640080" cy="1234440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640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1B2E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62432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По дате начала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0896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Чем раньше старт работы — тем выше место в очереди распределения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11274552" cy="123444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931920"/>
            <a:ext cx="640080" cy="1234440"/>
          </a:xfrm>
          <a:prstGeom prst="rect">
            <a:avLst/>
          </a:prstGeom>
          <a:solidFill>
            <a:srgbClr val="16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931920"/>
            <a:ext cx="640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D1B2E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4041648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По номеру приоритета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26280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Настраиваемый порядок внутри одной даты под задачи компании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440680"/>
            <a:ext cx="11274552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ECC71"/>
                </a:solidFill>
              </a:rPr>
              <a:t>Добавили аварийную работу → нажали «Пересчитать» → через секунды актуальная картина.
Не через день. Не через два. Через секунды.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Входные данные — то, что у вас уже есть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331720" cy="457200"/>
          </a:xfrm>
          <a:prstGeom prst="rect">
            <a:avLst/>
          </a:prstGeom>
          <a:solidFill>
            <a:srgbClr val="16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Источник данных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005840"/>
            <a:ext cx="5166360" cy="457200"/>
          </a:xfrm>
          <a:prstGeom prst="rect">
            <a:avLst/>
          </a:prstGeom>
          <a:solidFill>
            <a:srgbClr val="16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1051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Что содержит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1005840"/>
            <a:ext cx="3337560" cy="457200"/>
          </a:xfrm>
          <a:prstGeom prst="rect">
            <a:avLst/>
          </a:prstGeom>
          <a:solidFill>
            <a:srgbClr val="16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0515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Откуда берётся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2331720" cy="62179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60020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Перечень работ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1508760"/>
            <a:ext cx="5166360" cy="62179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600200"/>
            <a:ext cx="5029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Коды, наименования, сроки, приоритеты, филиал, завод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508760"/>
            <a:ext cx="3337560" cy="62179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600200"/>
            <a:ext cx="32004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Производственный план / SAP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167128"/>
            <a:ext cx="2331720" cy="621792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258568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Аварийные работы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26080" y="2167128"/>
            <a:ext cx="5166360" cy="621792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2258568"/>
            <a:ext cx="5029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Работы наивысшего приоритета, добавляемые в ходе периода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2167128"/>
            <a:ext cx="3337560" cy="621792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258568"/>
            <a:ext cx="32004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Производство / диспетчерская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25496"/>
            <a:ext cx="2331720" cy="62179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2916936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Потребности в материалах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80" y="2825496"/>
            <a:ext cx="5166360" cy="62179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17520" y="2916936"/>
            <a:ext cx="5029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Какой материал нужен для каждой работы и в каком кол-ве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2825496"/>
            <a:ext cx="3337560" cy="62179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916936"/>
            <a:ext cx="32004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Отдел снабжения / SAP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483864"/>
            <a:ext cx="2331720" cy="621792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575304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Складские остатки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26080" y="3483864"/>
            <a:ext cx="5166360" cy="621792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017520" y="3575304"/>
            <a:ext cx="5029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Партии: количество, цена, дата поступления, склад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483864"/>
            <a:ext cx="3337560" cy="621792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575304"/>
            <a:ext cx="32004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SAP / складской учёт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142232"/>
            <a:ext cx="2331720" cy="62179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233672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Законтракт. поставки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80" y="4142232"/>
            <a:ext cx="5166360" cy="62179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017520" y="4233672"/>
            <a:ext cx="5029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Материалы в пути: договор, поставщик, кол-во, дата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4142232"/>
            <a:ext cx="3337560" cy="62179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4233672"/>
            <a:ext cx="32004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Отдел снабжения / SAP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4800600"/>
            <a:ext cx="2331720" cy="621792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4892040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Фактические списания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26080" y="4800600"/>
            <a:ext cx="5166360" cy="621792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017520" y="4892040"/>
            <a:ext cx="5029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Что уже проведено документально на работы в SAP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4800600"/>
            <a:ext cx="3337560" cy="621792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1040" y="4892040"/>
            <a:ext cx="32004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ECC71"/>
                </a:solidFill>
              </a:rPr>
              <a:t>SAP (уже интегрировано ✓)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5458968"/>
            <a:ext cx="2331720" cy="62179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48640" y="5550408"/>
            <a:ext cx="21945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Выдано не списано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80" y="5458968"/>
            <a:ext cx="5166360" cy="62179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017520" y="5550408"/>
            <a:ext cx="50292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Выдано со склада — документ ещё не проведён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5458968"/>
            <a:ext cx="3337560" cy="621792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21040" y="5550408"/>
            <a:ext cx="320040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Кладовщики / SAP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Результаты — три формата для разных задач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394960" cy="50292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39496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97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ECC71"/>
                </a:solidFill>
              </a:rPr>
              <a:t>Excel-отчёт  (7 листов)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69164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Распределение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16916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каждая работа × материал × источник × стоимость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95144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Обеспеченность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29514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% и стоимость покрытия по каждой работе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9864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Движение склада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986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что взято, откуда, по какой цене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502152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Остатки складов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50215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что осталось после распределения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05656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Возм. перемещение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4105656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где взять у соседнего филиала вместо закупки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091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Поставки в работу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47091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что «в пути» уже распределено на работы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312664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  Заявка на закупку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5312664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C4DE"/>
                </a:solidFill>
              </a:rPr>
              <a:t>готовый список дефицита — к отделу снабжения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1005840"/>
            <a:ext cx="5577840" cy="22860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1005840"/>
            <a:ext cx="5577840" cy="64008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10972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99DFF"/>
                </a:solidFill>
              </a:rPr>
              <a:t>Веб-дашборд в реальном времени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169164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</a:rPr>
              <a:t>· Сводная статистика по всем работам и складам</a:t>
            </a:r>
          </a:p>
          <a:p>
            <a:pPr algn="l"/>
            <a:r>
              <a:rPr sz="1400" b="0">
                <a:solidFill>
                  <a:srgbClr val="B0C4DE"/>
                </a:solidFill>
              </a:rPr>
              <a:t>· Запуск перерасчёта одной кнопкой</a:t>
            </a:r>
          </a:p>
          <a:p>
            <a:pPr algn="l"/>
            <a:r>
              <a:rPr sz="1400" b="0">
                <a:solidFill>
                  <a:srgbClr val="B0C4DE"/>
                </a:solidFill>
              </a:rPr>
              <a:t>· Доступен с любого устройства через браузер</a:t>
            </a:r>
          </a:p>
          <a:p>
            <a:pPr algn="l"/>
            <a:r>
              <a:rPr sz="1400" b="0">
                <a:solidFill>
                  <a:srgbClr val="B0C4DE"/>
                </a:solidFill>
              </a:rPr>
              <a:t>· Без установки ПО на рабочие места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3474720"/>
            <a:ext cx="5577840" cy="256032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6480" y="3474720"/>
            <a:ext cx="5577840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56616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8C00"/>
                </a:solidFill>
              </a:rPr>
              <a:t>Точная заявка на закупку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16052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0C4DE"/>
                </a:solidFill>
              </a:rPr>
              <a:t>Автоматически рассчитанный список дефицитных</a:t>
            </a:r>
          </a:p>
          <a:p>
            <a:pPr algn="l"/>
            <a:r>
              <a:rPr sz="1500" b="0">
                <a:solidFill>
                  <a:srgbClr val="B0C4DE"/>
                </a:solidFill>
              </a:rPr>
              <a:t>позиций с количеством и стоимостью.</a:t>
            </a:r>
          </a:p>
          <a:p>
            <a:pPr algn="l"/>
            <a:r>
              <a:t/>
            </a:r>
          </a:p>
          <a:p>
            <a:pPr algn="l"/>
            <a:r>
              <a:rPr sz="1500" b="0">
                <a:solidFill>
                  <a:srgbClr val="B0C4DE"/>
                </a:solidFill>
              </a:rPr>
              <a:t>Исключает двойной счёт.</a:t>
            </a:r>
          </a:p>
          <a:p>
            <a:pPr algn="l"/>
            <a:r>
              <a:rPr sz="1500" b="0">
                <a:solidFill>
                  <a:srgbClr val="B0C4DE"/>
                </a:solidFill>
              </a:rPr>
              <a:t>Не требует ручной сверки.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Встроенный AI: не просто цифры — объяснения и прогнозы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474720" cy="50292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474720" cy="64008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Анализ дефицита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1463040" cy="34747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8013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E"/>
                </a:solidFill>
              </a:rPr>
              <a:t>Уже работает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2860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Для каждой дефицитной позиции AI объясняет на русском языке:
почему не хватило · что покрыл каждый слой
откуда брать · сколько и когда купить
Готовое объяснение для руководителя — без разбора таблиц.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60" y="1005840"/>
            <a:ext cx="3474720" cy="50292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51960" y="1005840"/>
            <a:ext cx="3474720" cy="64008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1430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Прогнозирование дефицитов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1783080"/>
            <a:ext cx="1463040" cy="347472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18013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В разработке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860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На основе динамики списаний и темпов выполнения
система предупреждает о дефиците до того,
как он возникнет.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005840"/>
            <a:ext cx="3474720" cy="50292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005840"/>
            <a:ext cx="3474720" cy="64008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14300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Рекомендации по оптимизации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783080"/>
            <a:ext cx="1463040" cy="347472"/>
          </a:xfrm>
          <a:prstGeom prst="rect">
            <a:avLst/>
          </a:prstGeom>
          <a:solidFill>
            <a:srgbClr val="5A7A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0" y="180136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В разработке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286000"/>
            <a:ext cx="3108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Что выгоднее: переместить между филиалами
или закупить. Где риск срыва срока.
Какие работы можно начать раньше.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Что меняется с MAPS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0" y="960120"/>
            <a:ext cx="3566160" cy="43891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0" y="1005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E"/>
                </a:solidFill>
              </a:rPr>
              <a:t>До MAPS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960120"/>
            <a:ext cx="3566160" cy="43891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0" y="10058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D1B2E"/>
                </a:solidFill>
              </a:rPr>
              <a:t>С MAPS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840480" cy="694944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Картина обеспечённости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463040"/>
            <a:ext cx="3566160" cy="694944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155448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Дни ручной работы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463040"/>
            <a:ext cx="3566160" cy="694944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49640" y="155448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Секунды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212848"/>
            <a:ext cx="3840480" cy="694944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304288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Точность заявки на закупку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2212848"/>
            <a:ext cx="3566160" cy="694944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09160" y="230428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Двойной счёт, пропущенные поставки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2212848"/>
            <a:ext cx="3566160" cy="694944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304288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Точный расчёт по всем источникам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962656"/>
            <a:ext cx="3840480" cy="694944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054096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Реакция на аварийную работу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2962656"/>
            <a:ext cx="3566160" cy="694944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09160" y="3054096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Перепланирование вручную, 1–2 дня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0" y="2962656"/>
            <a:ext cx="3566160" cy="694944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3054096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Мгновенный пересчёт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712464"/>
            <a:ext cx="3840480" cy="694944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803904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Межфилиальное перемещение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3712464"/>
            <a:ext cx="3566160" cy="694944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09160" y="3803904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Не анализируется систематически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0" y="3712464"/>
            <a:ext cx="3566160" cy="694944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49640" y="3803904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Автоматическая подсказка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462272"/>
            <a:ext cx="3840480" cy="694944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553712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Стоимость работ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4462272"/>
            <a:ext cx="3566160" cy="694944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09160" y="455371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Постфактум — уже нельзя повлиять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12480" y="4462272"/>
            <a:ext cx="3566160" cy="694944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49640" y="4553712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При каждом распределении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212080"/>
            <a:ext cx="3840480" cy="694944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94360" y="5303520"/>
            <a:ext cx="3657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Прозрачность решений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0" y="5212080"/>
            <a:ext cx="3566160" cy="694944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09160" y="530352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8C00"/>
                </a:solidFill>
              </a:rPr>
              <a:t>Сложно восстановить кто что решил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0" y="5212080"/>
            <a:ext cx="3566160" cy="694944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549640" y="5303520"/>
            <a:ext cx="33832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ECC71"/>
                </a:solidFill>
              </a:rPr>
              <a:t>Полный аудиторский след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Технологии корпоративного класса — не самописные «костыли»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2560320" cy="141732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2560320" cy="64008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99DFF"/>
                </a:solidFill>
              </a:rPr>
              <a:t>~8 000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</a:rPr>
              <a:t>строк кода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6976" y="1005840"/>
            <a:ext cx="2560320" cy="141732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36976" y="1005840"/>
            <a:ext cx="2560320" cy="64008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36976" y="1097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99DFF"/>
                </a:solidFill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6976" y="1783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</a:rPr>
              <a:t>сущностей
в БД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16752" y="1005840"/>
            <a:ext cx="2560320" cy="141732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16752" y="1005840"/>
            <a:ext cx="2560320" cy="64008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16752" y="1097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99DFF"/>
                </a:solidFill>
              </a:rP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16752" y="1783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</a:rPr>
              <a:t>модулей
импорта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96528" y="1005840"/>
            <a:ext cx="2560320" cy="141732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96528" y="1005840"/>
            <a:ext cx="2560320" cy="64008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96528" y="10972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299DFF"/>
                </a:solidFill>
              </a:rPr>
              <a:t>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96528" y="17830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E"/>
                </a:solidFill>
              </a:rPr>
              <a:t>шаг движка
распределения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606040"/>
            <a:ext cx="2221992" cy="384048"/>
          </a:xfrm>
          <a:prstGeom prst="rect">
            <a:avLst/>
          </a:prstGeom>
          <a:solidFill>
            <a:srgbClr val="16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3347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Технология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2606040"/>
            <a:ext cx="4050792" cy="384048"/>
          </a:xfrm>
          <a:prstGeom prst="rect">
            <a:avLst/>
          </a:prstGeom>
          <a:solidFill>
            <a:srgbClr val="16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71800" y="2633472"/>
            <a:ext cx="3931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Что это даёт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086600" y="2606040"/>
            <a:ext cx="4325112" cy="384048"/>
          </a:xfrm>
          <a:prstGeom prst="rect">
            <a:avLst/>
          </a:prstGeom>
          <a:solidFill>
            <a:srgbClr val="16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78040" y="2633472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Кто ещё использует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044952"/>
            <a:ext cx="2221992" cy="484631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108960"/>
            <a:ext cx="21031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9DFF"/>
                </a:solidFill>
              </a:rPr>
              <a:t>Python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360" y="3044952"/>
            <a:ext cx="4050792" cy="484631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71800" y="3108960"/>
            <a:ext cx="39319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Язык №1 для аналитических систем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3044952"/>
            <a:ext cx="4325112" cy="484631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78040" y="3108960"/>
            <a:ext cx="42062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Google · NASA · крупнейшие банки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566159"/>
            <a:ext cx="2221992" cy="484631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630167"/>
            <a:ext cx="21031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9DFF"/>
                </a:solidFill>
              </a:rPr>
              <a:t>FastAPI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3566159"/>
            <a:ext cx="4050792" cy="484631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71800" y="3630167"/>
            <a:ext cx="39319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Один из самых быстрых серверных фреймворков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086600" y="3566159"/>
            <a:ext cx="4325112" cy="484631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3630167"/>
            <a:ext cx="42062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Microsoft · Uber · Netflix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4087366"/>
            <a:ext cx="2221992" cy="484631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8640" y="4151374"/>
            <a:ext cx="21031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9DFF"/>
                </a:solidFill>
              </a:rPr>
              <a:t>PostgreSQL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880360" y="4087366"/>
            <a:ext cx="4050792" cy="484631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71800" y="4151374"/>
            <a:ext cx="39319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Промышленная СУБД мирового класса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086600" y="4087366"/>
            <a:ext cx="4325112" cy="484631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4151374"/>
            <a:ext cx="42062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Финансовые реестры, медицинские системы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608573"/>
            <a:ext cx="2221992" cy="484631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672581"/>
            <a:ext cx="21031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9DFF"/>
                </a:solidFill>
              </a:rPr>
              <a:t>pandas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80360" y="4608573"/>
            <a:ext cx="4050792" cy="484631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971800" y="4672581"/>
            <a:ext cx="39319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Индустриальный стандарт обработки данных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86600" y="4608573"/>
            <a:ext cx="4325112" cy="484631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78040" y="4672581"/>
            <a:ext cx="42062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Банки · биржи · крупные производства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5129780"/>
            <a:ext cx="2221992" cy="484631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5193788"/>
            <a:ext cx="21031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9DFF"/>
                </a:solidFill>
              </a:rPr>
              <a:t>Pydantic v2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0360" y="5129780"/>
            <a:ext cx="4050792" cy="484631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71800" y="5193788"/>
            <a:ext cx="39319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Автоматическая проверка каждой строки данных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86600" y="5129780"/>
            <a:ext cx="4325112" cy="484631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78040" y="5193788"/>
            <a:ext cx="42062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Ошибки отсеиваются до записи в базу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5650987"/>
            <a:ext cx="2221992" cy="484631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5714995"/>
            <a:ext cx="21031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9DFF"/>
                </a:solidFill>
              </a:rPr>
              <a:t>SQLAlchemy + Alembic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880360" y="5650987"/>
            <a:ext cx="4050792" cy="484631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971800" y="5714995"/>
            <a:ext cx="39319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ORM и версионирование схемы БД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86600" y="5650987"/>
            <a:ext cx="4325112" cy="484631"/>
          </a:xfrm>
          <a:prstGeom prst="rect">
            <a:avLst/>
          </a:prstGeom>
          <a:solidFill>
            <a:srgbClr val="1428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78040" y="5714995"/>
            <a:ext cx="42062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Изменения применяются безопасно, как в банке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6172194"/>
            <a:ext cx="2221992" cy="484631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6236202"/>
            <a:ext cx="21031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99DFF"/>
                </a:solidFill>
              </a:rPr>
              <a:t>Claude AI (Anthropic)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80360" y="6172194"/>
            <a:ext cx="4050792" cy="484631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971800" y="6236202"/>
            <a:ext cx="393192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Самая продвинутая коммерческая языковая модель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86600" y="6172194"/>
            <a:ext cx="4325112" cy="484631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178040" y="6236202"/>
            <a:ext cx="4206240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E"/>
                </a:solidFill>
              </a:rPr>
              <a:t>Та же технология — лучшие корпоративные AI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989320"/>
            <a:ext cx="11274552" cy="54864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7200" y="60807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299DFF"/>
                </a:solidFill>
              </a:rPr>
              <a:t>Каждый инструмент выбран как лучшее решение для задач именно такого масштаба.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Дорожная карта развития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1274552" cy="54864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3474720" cy="50292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47472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ECC71"/>
                </a:solidFill>
              </a:rPr>
              <a:t>Сейчас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</a:rPr>
              <a:t>Готово к работе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402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Импорт данных из Excel и SAP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9864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Пятислойный алгоритм распределения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57016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AI-анализ дефицитов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1538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Веб-дашборд и Excel-отчёты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7375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Полный аудиторский след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005840"/>
            <a:ext cx="3474720" cy="50292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005840"/>
            <a:ext cx="3474720" cy="73152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143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99DFF"/>
                </a:solidFill>
              </a:rPr>
              <a:t>6–12 месяцев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</a:rPr>
              <a:t>Следующий этап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402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·  АРМ снабженца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89864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·  АРМ производственника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557016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·  Уведомления и согласование заявок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421538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·  Мобильный доступ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487375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·  История заявок и статусов поставок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005840"/>
            <a:ext cx="3474720" cy="50292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1005840"/>
            <a:ext cx="3474720" cy="73152"/>
          </a:xfrm>
          <a:prstGeom prst="rect">
            <a:avLst/>
          </a:prstGeom>
          <a:solidFill>
            <a:srgbClr val="165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12480" y="11430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65CB0"/>
                </a:solidFill>
              </a:rPr>
              <a:t>12–24 месяца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169164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0C4DE"/>
                </a:solidFill>
              </a:rPr>
              <a:t>Стратегическое развитие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240280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·  Прямой обмен данными с SAP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898648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·  Прогнозирование дефицитов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3557016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·  Оптимизация межфилиальных перемещений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21538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·  Сводная аналитика по компании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4873752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E"/>
                </a:solidFill>
              </a:rPr>
              <a:t>·  Анализ критического пути работ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1722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5A7A9A"/>
                </a:solidFill>
              </a:rPr>
              <a:t>Каждый следующий шаг строится на уже работающем фундаменте. Переписывать ничего не нужно.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B0C4DE"/>
                </a:solidFill>
              </a:rPr>
              <a:t>«Какие работы обеспечены материалами —
а какие нет, и на сколько?»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331720"/>
            <a:ext cx="1051560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14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ECC71"/>
                </a:solidFill>
              </a:rPr>
              <a:t>С MAPS — этот вопрос получает ответ за секунды.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  →  По каждой из 10 000+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0448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  →  По всем 10+ филиалам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47141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  →  С разбивкой по источникам, стоимости и % обеспечённости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03834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</a:rPr>
              <a:t>  →  В любой момент — при любом изменении данных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Следующий шаг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1274552" cy="54864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41148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474720" cy="73152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ECC71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Пилотный запуск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346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Один филиал, реальные данные следующего квартала.
Результат — за одну рабочую сессию.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188720"/>
            <a:ext cx="3474720" cy="41148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188720"/>
            <a:ext cx="3474720" cy="73152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325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299DFF"/>
                </a:solidFill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Расширенная демонстрация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346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На данных любого выбранного периода.
Показываем весь цикл: загрузка → расчёт → отчёт.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188720"/>
            <a:ext cx="3474720" cy="4114800"/>
          </a:xfrm>
          <a:prstGeom prst="rect">
            <a:avLst/>
          </a:prstGeom>
          <a:solidFill>
            <a:srgbClr val="1122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474720" cy="73152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325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8C00"/>
                </a:solidFill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0312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Рабочая встреча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2834640"/>
            <a:ext cx="3108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B0C4DE"/>
                </a:solidFill>
              </a:rPr>
              <a:t>Детальное обсуждение с руководителями
снабжения и производства.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532120"/>
            <a:ext cx="11274552" cy="73152"/>
          </a:xfrm>
          <a:prstGeom prst="rect">
            <a:avLst/>
          </a:prstGeom>
          <a:solidFill>
            <a:srgbClr val="299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566928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7A9A"/>
                </a:solidFill>
              </a:rPr>
              <a:t>MAPS · Material Allocation &amp; Planning System ·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0" y="63093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5A7A9A"/>
                </a:solidFill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